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</p:sldIdLst>
  <p:sldSz cy="10287000" cx="18288000"/>
  <p:notesSz cx="6858000" cy="9144000"/>
  <p:embeddedFontLst>
    <p:embeddedFont>
      <p:font typeface="DM Serif Display"/>
      <p:regular r:id="rId10"/>
      <p: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irWREBH4cgBX+punQ5YloEb0nC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CCE362-D589-400C-AB20-32F66E5A7E93}">
  <a:tblStyle styleId="{8ECCE362-D589-400C-AB20-32F66E5A7E9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DMSerifDisplay-italic.fntdata"/><Relationship Id="rId10" Type="http://schemas.openxmlformats.org/officeDocument/2006/relationships/font" Target="fonts/DMSerifDisplay-regular.fntdata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9766ef1c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e9766ef1c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1deb1ee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e1deb1ee6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8BBA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15893" y="3789033"/>
            <a:ext cx="18519786" cy="6902829"/>
          </a:xfrm>
          <a:custGeom>
            <a:rect b="b" l="l" r="r" t="t"/>
            <a:pathLst>
              <a:path extrusionOk="0" h="6902829" w="18519786">
                <a:moveTo>
                  <a:pt x="0" y="0"/>
                </a:moveTo>
                <a:lnTo>
                  <a:pt x="18519786" y="0"/>
                </a:lnTo>
                <a:lnTo>
                  <a:pt x="18519786" y="6902829"/>
                </a:lnTo>
                <a:lnTo>
                  <a:pt x="0" y="69028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305825" y="313475"/>
            <a:ext cx="178494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56"/>
              <a:buFont typeface="Arial"/>
              <a:buNone/>
            </a:pPr>
            <a:r>
              <a:rPr b="1" i="0" lang="en-US" sz="7000" u="none" cap="none" strike="noStrike">
                <a:solidFill>
                  <a:srgbClr val="0F170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ATIVIDADE DIVERSIFICADA- 2º TRIMESTRE</a:t>
            </a:r>
            <a:endParaRPr b="1" i="0" sz="7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572000" y="1620425"/>
            <a:ext cx="10458300" cy="1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47"/>
              <a:buFont typeface="Arial"/>
              <a:buNone/>
            </a:pPr>
            <a:r>
              <a:rPr b="0" i="0" lang="en-US" sz="6847" u="none" cap="none" strike="noStrike">
                <a:solidFill>
                  <a:srgbClr val="0F170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FONTES DE ENERGIA</a:t>
            </a:r>
            <a:endParaRPr b="0" i="0" sz="23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8BBA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g3e9766ef1ca_0_7"/>
          <p:cNvGrpSpPr/>
          <p:nvPr/>
        </p:nvGrpSpPr>
        <p:grpSpPr>
          <a:xfrm>
            <a:off x="425" y="10002827"/>
            <a:ext cx="18288210" cy="1794951"/>
            <a:chOff x="0" y="-47625"/>
            <a:chExt cx="5133965" cy="796800"/>
          </a:xfrm>
        </p:grpSpPr>
        <p:sp>
          <p:nvSpPr>
            <p:cNvPr id="92" name="Google Shape;92;g3e9766ef1ca_0_7"/>
            <p:cNvSpPr/>
            <p:nvPr/>
          </p:nvSpPr>
          <p:spPr>
            <a:xfrm>
              <a:off x="0" y="0"/>
              <a:ext cx="5133863" cy="749170"/>
            </a:xfrm>
            <a:custGeom>
              <a:rect b="b" l="l" r="r" t="t"/>
              <a:pathLst>
                <a:path extrusionOk="0" h="749170" w="5133863">
                  <a:moveTo>
                    <a:pt x="20256" y="0"/>
                  </a:moveTo>
                  <a:lnTo>
                    <a:pt x="5113607" y="0"/>
                  </a:lnTo>
                  <a:cubicBezTo>
                    <a:pt x="5118979" y="0"/>
                    <a:pt x="5124131" y="2134"/>
                    <a:pt x="5127930" y="5933"/>
                  </a:cubicBezTo>
                  <a:cubicBezTo>
                    <a:pt x="5131729" y="9731"/>
                    <a:pt x="5133863" y="14884"/>
                    <a:pt x="5133863" y="20256"/>
                  </a:cubicBezTo>
                  <a:lnTo>
                    <a:pt x="5133863" y="728915"/>
                  </a:lnTo>
                  <a:cubicBezTo>
                    <a:pt x="5133863" y="734287"/>
                    <a:pt x="5131729" y="739439"/>
                    <a:pt x="5127930" y="743238"/>
                  </a:cubicBezTo>
                  <a:cubicBezTo>
                    <a:pt x="5124131" y="747036"/>
                    <a:pt x="5118979" y="749170"/>
                    <a:pt x="5113607" y="749170"/>
                  </a:cubicBezTo>
                  <a:lnTo>
                    <a:pt x="20256" y="749170"/>
                  </a:lnTo>
                  <a:cubicBezTo>
                    <a:pt x="14884" y="749170"/>
                    <a:pt x="9731" y="747036"/>
                    <a:pt x="5933" y="743238"/>
                  </a:cubicBezTo>
                  <a:cubicBezTo>
                    <a:pt x="2134" y="739439"/>
                    <a:pt x="0" y="734287"/>
                    <a:pt x="0" y="728915"/>
                  </a:cubicBezTo>
                  <a:lnTo>
                    <a:pt x="0" y="20256"/>
                  </a:lnTo>
                  <a:cubicBezTo>
                    <a:pt x="0" y="14884"/>
                    <a:pt x="2134" y="9731"/>
                    <a:pt x="5933" y="5933"/>
                  </a:cubicBezTo>
                  <a:cubicBezTo>
                    <a:pt x="9731" y="2134"/>
                    <a:pt x="14884" y="0"/>
                    <a:pt x="20256" y="0"/>
                  </a:cubicBezTo>
                  <a:close/>
                </a:path>
              </a:pathLst>
            </a:custGeom>
            <a:solidFill>
              <a:srgbClr val="12290D"/>
            </a:solidFill>
            <a:ln>
              <a:noFill/>
            </a:ln>
          </p:spPr>
          <p:txBody>
            <a:bodyPr anchorCtr="0" anchor="ctr" bIns="88825" lIns="88825" spcFirstLastPara="1" rIns="88825" wrap="square" tIns="88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0"/>
                <a:buFont typeface="Arial"/>
                <a:buNone/>
              </a:pPr>
              <a:r>
                <a:t/>
              </a:r>
              <a:endParaRPr b="0" i="0" sz="13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3e9766ef1ca_0_7"/>
            <p:cNvSpPr txBox="1"/>
            <p:nvPr/>
          </p:nvSpPr>
          <p:spPr>
            <a:xfrm>
              <a:off x="145865" y="-47625"/>
              <a:ext cx="4988100" cy="79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350" lIns="49350" spcFirstLastPara="1" rIns="49350" wrap="square" tIns="493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49"/>
                <a:buFont typeface="Arial"/>
                <a:buNone/>
              </a:pPr>
              <a:r>
                <a:t/>
              </a:r>
              <a:endParaRPr b="0" i="0" sz="17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g3e9766ef1ca_0_7"/>
          <p:cNvSpPr txBox="1"/>
          <p:nvPr/>
        </p:nvSpPr>
        <p:spPr>
          <a:xfrm>
            <a:off x="194625" y="113675"/>
            <a:ext cx="17682300" cy="9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86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PESQUISE OS SEGUINTES TÓPICOS SOBRE A </a:t>
            </a:r>
            <a:r>
              <a:rPr b="1" i="0" lang="en-US" sz="4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DM Serif Display"/>
                <a:ea typeface="DM Serif Display"/>
                <a:cs typeface="DM Serif Display"/>
                <a:sym typeface="DM Serif Display"/>
              </a:rPr>
              <a:t>FONTE DE ENERGIA</a:t>
            </a:r>
            <a:r>
              <a:rPr b="1" lang="en-US" sz="4000">
                <a:solidFill>
                  <a:schemeClr val="dk1"/>
                </a:solidFill>
                <a:highlight>
                  <a:srgbClr val="FFFF00"/>
                </a:highlight>
                <a:latin typeface="DM Serif Display"/>
                <a:ea typeface="DM Serif Display"/>
                <a:cs typeface="DM Serif Display"/>
                <a:sym typeface="DM Serif Display"/>
              </a:rPr>
              <a:t>: </a:t>
            </a:r>
            <a:r>
              <a:rPr b="1" i="0" lang="en-US" sz="4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DM Serif Display"/>
                <a:ea typeface="DM Serif Display"/>
                <a:cs typeface="DM Serif Display"/>
                <a:sym typeface="DM Serif Display"/>
              </a:rPr>
              <a:t>O BIOGÁS </a:t>
            </a:r>
            <a:endParaRPr b="1" i="0" sz="4000" u="none" cap="none" strike="noStrike">
              <a:solidFill>
                <a:schemeClr val="dk1"/>
              </a:solidFill>
              <a:highlight>
                <a:srgbClr val="FFFF00"/>
              </a:highlight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86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b="1" i="0" lang="en-US" sz="37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TRAGAS AS INFORMAÇÕES E IMAGENS PARA A CONFECÇÃO DO CARTAZ EM SALA.</a:t>
            </a:r>
            <a:endParaRPr b="0" i="0" sz="4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6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highlight>
                <a:srgbClr val="FFFF00"/>
              </a:highlight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6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1) Explique esse tipo de energia.</a:t>
            </a:r>
            <a:endParaRPr b="0" i="0" sz="4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6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6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2)  O Biogás </a:t>
            </a:r>
            <a:r>
              <a:rPr lang="en-US" sz="4000">
                <a:latin typeface="DM Serif Display"/>
                <a:ea typeface="DM Serif Display"/>
                <a:cs typeface="DM Serif Display"/>
                <a:sym typeface="DM Serif Display"/>
              </a:rPr>
              <a:t>pode ser  produzido de forma natural ou artificial. Explique as duas formas de produção.</a:t>
            </a:r>
            <a:endParaRPr b="0" i="0" sz="4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6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6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3) Ela é renovável ou não renovável? Justifique.</a:t>
            </a:r>
            <a:endParaRPr b="0" i="0" sz="4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6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6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4) Quais são as vantagens e desvantagens d</a:t>
            </a:r>
            <a:r>
              <a:rPr lang="en-US" sz="4000">
                <a:latin typeface="DM Serif Display"/>
                <a:ea typeface="DM Serif Display"/>
                <a:cs typeface="DM Serif Display"/>
                <a:sym typeface="DM Serif Display"/>
              </a:rPr>
              <a:t>a fonte de energia: biogás?</a:t>
            </a:r>
            <a:endParaRPr b="0" i="0" sz="4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6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6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5) Ela é boa para o meio ambiente? Por quê?</a:t>
            </a:r>
            <a:endParaRPr b="0" i="0" sz="4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86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86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6) Pesquise uma empresa/instituição que </a:t>
            </a:r>
            <a:r>
              <a:rPr lang="en-US" sz="4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produz </a:t>
            </a:r>
            <a:r>
              <a:rPr b="0" i="0" lang="en-US" sz="40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 a distribui</a:t>
            </a:r>
            <a:r>
              <a:rPr lang="en-US" sz="4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o bio</a:t>
            </a:r>
            <a:r>
              <a:rPr b="0" i="0" lang="en-US" sz="40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gás aqui no Brasil. Quais são as suas principais atividades?</a:t>
            </a:r>
            <a:endParaRPr b="0" i="0" sz="2000" u="none" cap="none" strike="noStrike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86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6"/>
              <a:buFont typeface="Arial"/>
              <a:buNone/>
            </a:pPr>
            <a:r>
              <a:t/>
            </a:r>
            <a:endParaRPr b="0" i="0" sz="3686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8BBA8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g3e1deb1ee67_0_0"/>
          <p:cNvGrpSpPr/>
          <p:nvPr/>
        </p:nvGrpSpPr>
        <p:grpSpPr>
          <a:xfrm>
            <a:off x="50" y="8772350"/>
            <a:ext cx="18287979" cy="3025370"/>
            <a:chOff x="0" y="-47625"/>
            <a:chExt cx="5133900" cy="796800"/>
          </a:xfrm>
        </p:grpSpPr>
        <p:sp>
          <p:nvSpPr>
            <p:cNvPr id="100" name="Google Shape;100;g3e1deb1ee67_0_0"/>
            <p:cNvSpPr/>
            <p:nvPr/>
          </p:nvSpPr>
          <p:spPr>
            <a:xfrm>
              <a:off x="0" y="0"/>
              <a:ext cx="5133863" cy="749170"/>
            </a:xfrm>
            <a:custGeom>
              <a:rect b="b" l="l" r="r" t="t"/>
              <a:pathLst>
                <a:path extrusionOk="0" h="749170" w="5133863">
                  <a:moveTo>
                    <a:pt x="20256" y="0"/>
                  </a:moveTo>
                  <a:lnTo>
                    <a:pt x="5113607" y="0"/>
                  </a:lnTo>
                  <a:cubicBezTo>
                    <a:pt x="5118979" y="0"/>
                    <a:pt x="5124131" y="2134"/>
                    <a:pt x="5127930" y="5933"/>
                  </a:cubicBezTo>
                  <a:cubicBezTo>
                    <a:pt x="5131729" y="9731"/>
                    <a:pt x="5133863" y="14884"/>
                    <a:pt x="5133863" y="20256"/>
                  </a:cubicBezTo>
                  <a:lnTo>
                    <a:pt x="5133863" y="728915"/>
                  </a:lnTo>
                  <a:cubicBezTo>
                    <a:pt x="5133863" y="734287"/>
                    <a:pt x="5131729" y="739439"/>
                    <a:pt x="5127930" y="743238"/>
                  </a:cubicBezTo>
                  <a:cubicBezTo>
                    <a:pt x="5124131" y="747036"/>
                    <a:pt x="5118979" y="749170"/>
                    <a:pt x="5113607" y="749170"/>
                  </a:cubicBezTo>
                  <a:lnTo>
                    <a:pt x="20256" y="749170"/>
                  </a:lnTo>
                  <a:cubicBezTo>
                    <a:pt x="14884" y="749170"/>
                    <a:pt x="9731" y="747036"/>
                    <a:pt x="5933" y="743238"/>
                  </a:cubicBezTo>
                  <a:cubicBezTo>
                    <a:pt x="2134" y="739439"/>
                    <a:pt x="0" y="734287"/>
                    <a:pt x="0" y="728915"/>
                  </a:cubicBezTo>
                  <a:lnTo>
                    <a:pt x="0" y="20256"/>
                  </a:lnTo>
                  <a:cubicBezTo>
                    <a:pt x="0" y="14884"/>
                    <a:pt x="2134" y="9731"/>
                    <a:pt x="5933" y="5933"/>
                  </a:cubicBezTo>
                  <a:cubicBezTo>
                    <a:pt x="9731" y="2134"/>
                    <a:pt x="14884" y="0"/>
                    <a:pt x="20256" y="0"/>
                  </a:cubicBezTo>
                  <a:close/>
                </a:path>
              </a:pathLst>
            </a:custGeom>
            <a:solidFill>
              <a:srgbClr val="122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e1deb1ee67_0_0"/>
            <p:cNvSpPr txBox="1"/>
            <p:nvPr/>
          </p:nvSpPr>
          <p:spPr>
            <a:xfrm>
              <a:off x="0" y="-47625"/>
              <a:ext cx="5133900" cy="79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g3e1deb1ee67_0_0"/>
          <p:cNvSpPr txBox="1"/>
          <p:nvPr/>
        </p:nvSpPr>
        <p:spPr>
          <a:xfrm>
            <a:off x="4637449" y="160688"/>
            <a:ext cx="90132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88"/>
              <a:buFont typeface="Arial"/>
              <a:buNone/>
            </a:pPr>
            <a:r>
              <a:rPr b="1" i="0" lang="en-US" sz="5888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RUBRICA - valor: 3,5</a:t>
            </a:r>
            <a:endParaRPr b="1" i="0" sz="5888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2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88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aphicFrame>
        <p:nvGraphicFramePr>
          <p:cNvPr id="103" name="Google Shape;103;g3e1deb1ee67_0_0"/>
          <p:cNvGraphicFramePr/>
          <p:nvPr/>
        </p:nvGraphicFramePr>
        <p:xfrm>
          <a:off x="924750" y="10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{8ECCE362-D589-400C-AB20-32F66E5A7E93}</a:tableStyleId>
              </a:tblPr>
              <a:tblGrid>
                <a:gridCol w="9580025"/>
                <a:gridCol w="2074125"/>
                <a:gridCol w="4784450"/>
              </a:tblGrid>
              <a:tr h="83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300"/>
                        <a:buFont typeface="Arial"/>
                        <a:buNone/>
                      </a:pPr>
                      <a:r>
                        <a:rPr b="1" lang="en-US" sz="4300" u="none" cap="none" strike="noStrike"/>
                        <a:t>O que vai ser avaliado</a:t>
                      </a:r>
                      <a:endParaRPr b="1" sz="4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300"/>
                        <a:buFont typeface="Arial"/>
                        <a:buNone/>
                      </a:pPr>
                      <a:r>
                        <a:rPr b="1" lang="en-US" sz="4300" u="none" cap="none" strike="noStrike"/>
                        <a:t>Valor</a:t>
                      </a:r>
                      <a:endParaRPr b="1" sz="4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4300" u="none" cap="none" strike="noStrike">
                          <a:solidFill>
                            <a:schemeClr val="dk1"/>
                          </a:solidFill>
                        </a:rPr>
                        <a:t>Nota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300"/>
                        <a:buFont typeface="Arial"/>
                        <a:buNone/>
                      </a:pPr>
                      <a:r>
                        <a:rPr lang="en-US" sz="4300" u="none" cap="none" strike="noStrike"/>
                        <a:t>Compreensão do conteúdo.</a:t>
                      </a:r>
                      <a:endParaRPr sz="4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86"/>
                        <a:buFont typeface="Arial"/>
                        <a:buNone/>
                      </a:pPr>
                      <a:r>
                        <a:rPr lang="en-US" sz="2986" u="none" cap="none" strike="noStrike">
                          <a:solidFill>
                            <a:schemeClr val="dk1"/>
                          </a:solidFill>
                        </a:rPr>
                        <a:t>Demonstra excelente domínio, usa termos corretos, responde com clareza.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300"/>
                        <a:buFont typeface="Arial"/>
                        <a:buNone/>
                      </a:pPr>
                      <a:r>
                        <a:rPr lang="en-US" sz="4300" u="none" cap="none" strike="noStrike"/>
                        <a:t>1,0</a:t>
                      </a:r>
                      <a:endParaRPr sz="4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300"/>
                        <a:buFont typeface="Arial"/>
                        <a:buNone/>
                      </a:pPr>
                      <a:r>
                        <a:rPr lang="en-US" sz="4300" u="none" cap="none" strike="noStrike">
                          <a:solidFill>
                            <a:schemeClr val="dk1"/>
                          </a:solidFill>
                        </a:rPr>
                        <a:t>Qualidade do cartaz.</a:t>
                      </a:r>
                      <a:endParaRPr sz="4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86"/>
                        <a:buFont typeface="Arial"/>
                        <a:buNone/>
                      </a:pPr>
                      <a:r>
                        <a:rPr lang="en-US" sz="2986" u="none" cap="none" strike="noStrike">
                          <a:solidFill>
                            <a:schemeClr val="dk1"/>
                          </a:solidFill>
                        </a:rPr>
                        <a:t>Visualmente caprichado, bem organizado e criativo.</a:t>
                      </a:r>
                      <a:endParaRPr sz="4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4300" u="none" cap="none" strike="noStrike">
                          <a:solidFill>
                            <a:schemeClr val="dk1"/>
                          </a:solidFill>
                        </a:rPr>
                        <a:t>1,0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300"/>
                        <a:buFont typeface="Arial"/>
                        <a:buNone/>
                      </a:pPr>
                      <a:r>
                        <a:rPr lang="en-US" sz="4300" u="none" cap="none" strike="noStrike">
                          <a:solidFill>
                            <a:schemeClr val="dk1"/>
                          </a:solidFill>
                        </a:rPr>
                        <a:t>Apresentação oral.</a:t>
                      </a:r>
                      <a:endParaRPr sz="4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86"/>
                        <a:buFont typeface="Arial"/>
                        <a:buNone/>
                      </a:pPr>
                      <a:r>
                        <a:rPr lang="en-US" sz="2986" u="none" cap="none" strike="noStrike">
                          <a:solidFill>
                            <a:schemeClr val="dk1"/>
                          </a:solidFill>
                        </a:rPr>
                        <a:t>Apresentação clara, segura e bem dividida entre os membros.</a:t>
                      </a:r>
                      <a:endParaRPr sz="4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4300" u="none" cap="none" strike="noStrike">
                          <a:solidFill>
                            <a:schemeClr val="dk1"/>
                          </a:solidFill>
                        </a:rPr>
                        <a:t>1,0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300"/>
                        <a:buFont typeface="Arial"/>
                        <a:buNone/>
                      </a:pPr>
                      <a:r>
                        <a:rPr lang="en-US" sz="4300" u="none" cap="none" strike="noStrike">
                          <a:solidFill>
                            <a:schemeClr val="dk1"/>
                          </a:solidFill>
                        </a:rPr>
                        <a:t>Participação e envolvimento.</a:t>
                      </a:r>
                      <a:endParaRPr sz="4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86"/>
                        <a:buFont typeface="Arial"/>
                        <a:buNone/>
                      </a:pPr>
                      <a:r>
                        <a:rPr lang="en-US" sz="2986" u="none" cap="none" strike="noStrike">
                          <a:solidFill>
                            <a:schemeClr val="dk1"/>
                          </a:solidFill>
                        </a:rPr>
                        <a:t>Participou de todas as etapas com interesse e colaboração.</a:t>
                      </a:r>
                      <a:endParaRPr sz="4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4300" u="none" cap="none" strike="noStrike">
                          <a:solidFill>
                            <a:schemeClr val="dk1"/>
                          </a:solidFill>
                        </a:rPr>
                        <a:t>0,5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